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League Spartan" charset="1" panose="00000800000000000000"/>
      <p:regular r:id="rId8"/>
    </p:embeddedFont>
    <p:embeddedFont>
      <p:font typeface="Source Sans Pro Bold" charset="1" panose="020B0703030403020204"/>
      <p:regular r:id="rId9"/>
    </p:embeddedFont>
    <p:embeddedFont>
      <p:font typeface="Source Sans Pro" charset="1" panose="020B0503030403020204"/>
      <p:regular r:id="rId10"/>
    </p:embeddedFont>
    <p:embeddedFont>
      <p:font typeface="Aileron" charset="1" panose="000005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22" Target="../media/image23.png" Type="http://schemas.openxmlformats.org/officeDocument/2006/relationships/image"/><Relationship Id="rId23" Target="../media/image24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8703" y="2420772"/>
            <a:ext cx="4681498" cy="5208899"/>
          </a:xfrm>
          <a:custGeom>
            <a:avLst/>
            <a:gdLst/>
            <a:ahLst/>
            <a:cxnLst/>
            <a:rect r="r" b="b" t="t" l="l"/>
            <a:pathLst>
              <a:path h="5208899" w="4681498">
                <a:moveTo>
                  <a:pt x="0" y="0"/>
                </a:moveTo>
                <a:lnTo>
                  <a:pt x="4681498" y="0"/>
                </a:lnTo>
                <a:lnTo>
                  <a:pt x="4681498" y="5208899"/>
                </a:lnTo>
                <a:lnTo>
                  <a:pt x="0" y="5208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610" y="538063"/>
            <a:ext cx="5279476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3000" spc="-105">
                <a:solidFill>
                  <a:srgbClr val="292B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Chain of Custody Network</a:t>
            </a:r>
          </a:p>
          <a:p>
            <a:pPr algn="l">
              <a:lnSpc>
                <a:spcPts val="27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-1275976">
            <a:off x="14673131" y="5893096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Sovereign Chain</a:t>
            </a:r>
          </a:p>
        </p:txBody>
      </p:sp>
      <p:sp>
        <p:nvSpPr>
          <p:cNvPr name="TextBox 5" id="5"/>
          <p:cNvSpPr txBox="true"/>
          <p:nvPr/>
        </p:nvSpPr>
        <p:spPr>
          <a:xfrm rot="1214300">
            <a:off x="12529632" y="6653213"/>
            <a:ext cx="2337941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Interblockchain Communication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1610" y="7552096"/>
            <a:ext cx="9149362" cy="232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  <a:spcBef>
                <a:spcPct val="0"/>
              </a:spcBef>
            </a:pPr>
            <a:r>
              <a:rPr lang="en-US" b="true" sz="1912" spc="-66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Layer 0 </a:t>
            </a: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 </a:t>
            </a: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Framework for building custom blockchains with modular governance, validation, and application logic.</a:t>
            </a:r>
          </a:p>
          <a:p>
            <a:pPr algn="l" marL="412841" indent="-206420" lvl="1">
              <a:lnSpc>
                <a:spcPts val="2677"/>
              </a:lnSpc>
              <a:spcBef>
                <a:spcPct val="0"/>
              </a:spcBef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CometBFT (Consensus Engine)</a:t>
            </a:r>
          </a:p>
          <a:p>
            <a:pPr algn="l" marL="825681" indent="-275227" lvl="2">
              <a:lnSpc>
                <a:spcPts val="2677"/>
              </a:lnSpc>
              <a:spcBef>
                <a:spcPct val="0"/>
              </a:spcBef>
              <a:buFont typeface="Arial"/>
              <a:buChar char="⚬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 throughput without POW energy costs</a:t>
            </a:r>
          </a:p>
          <a:p>
            <a:pPr algn="l" marL="412841" indent="-206420" lvl="1">
              <a:lnSpc>
                <a:spcPts val="2677"/>
              </a:lnSpc>
              <a:spcBef>
                <a:spcPct val="0"/>
              </a:spcBef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Inter-Blockchain Communication Protocol</a:t>
            </a:r>
          </a:p>
          <a:p>
            <a:pPr algn="l" marL="825681" indent="-275227" lvl="2">
              <a:lnSpc>
                <a:spcPts val="2677"/>
              </a:lnSpc>
              <a:spcBef>
                <a:spcPct val="0"/>
              </a:spcBef>
              <a:buFont typeface="Arial"/>
              <a:buChar char="⚬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 sovereign chain and zone exchange verified data and tokens without centralized intermediaries.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610" y="5730148"/>
            <a:ext cx="9149362" cy="198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  <a:spcBef>
                <a:spcPct val="0"/>
              </a:spcBef>
            </a:pPr>
            <a:r>
              <a:rPr lang="en-US" b="true" sz="1912" spc="-66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Layer 1(s) - Country (Name) Sovereign Compliance &amp; Anchoring Chain</a:t>
            </a:r>
          </a:p>
          <a:p>
            <a:pPr algn="l" marL="412841" indent="-206420" lvl="1">
              <a:lnSpc>
                <a:spcPts val="2677"/>
              </a:lnSpc>
              <a:spcBef>
                <a:spcPct val="0"/>
              </a:spcBef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Role: Legal + technical anchor with master government agreements.</a:t>
            </a:r>
          </a:p>
          <a:p>
            <a:pPr algn="l" marL="412841" indent="-206420" lvl="1">
              <a:lnSpc>
                <a:spcPts val="2677"/>
              </a:lnSpc>
              <a:spcBef>
                <a:spcPct val="0"/>
              </a:spcBef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 it does: Enforces methodologies and issuance rules, anchors verified MRV hashes, and mints data for cred</a:t>
            </a: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 issuance to a standard (ITMO, Verra, Gold, ICYCM, A6.4er)</a:t>
            </a:r>
          </a:p>
          <a:p>
            <a:pPr algn="l" marL="412841" indent="-206420" lvl="1">
              <a:lnSpc>
                <a:spcPts val="2677"/>
              </a:lnSpc>
              <a:spcBef>
                <a:spcPct val="0"/>
              </a:spcBef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Interfaces: IBC channels to</a:t>
            </a: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every zone; APIs for registries and national reporting</a:t>
            </a:r>
          </a:p>
          <a:p>
            <a:pPr algn="l">
              <a:lnSpc>
                <a:spcPts val="267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1610" y="3225119"/>
            <a:ext cx="10224123" cy="265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1912" spc="-66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Layer 2 — Mission Control / Governance Engine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Role: Operational core for verification, aggregation, and reporting.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PoV validation: 50% AI (CV, GPS/timestamp checks, anomaly detection) + 50% human (audits, disputes, randomized QC).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Functions: SOP enforcement, role permissions, cross-project aggregation (CPA/PoA), data enrichment (satellite/weather/soil), metrics &amp; BTR/NDC reporting.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Outputs: Compliance-ready datasets routed to L1 for issuance; dashboards for administrators and buyers.</a:t>
            </a:r>
          </a:p>
          <a:p>
            <a:pPr algn="l">
              <a:lnSpc>
                <a:spcPts val="2677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1610" y="1093239"/>
            <a:ext cx="10224123" cy="232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1912" spc="-66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Layer 3 —  Universal-access Applications &amp; MRV Tools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User-friendly field apps: KYC/FaceID, GPS mapping,</a:t>
            </a: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photo/video/sensor capture, offline sync.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Verifier consoles: Review queues, escalation, audit trails.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</a:t>
            </a: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uyer/investor portals: Browse verified credits, impact telemetry, purchase history.</a:t>
            </a:r>
          </a:p>
          <a:p>
            <a:pPr algn="l" marL="412841" indent="-206420" lvl="1">
              <a:lnSpc>
                <a:spcPts val="2677"/>
              </a:lnSpc>
              <a:buFont typeface="Arial"/>
              <a:buChar char="•"/>
            </a:pPr>
            <a:r>
              <a:rPr lang="en-US" sz="1912" spc="-66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Oracles &amp; integrations: Drone/satellite/IoT feeds; REST/GraphQL APIs for ESG platforms, travel offsets, and government systems.</a:t>
            </a:r>
          </a:p>
          <a:p>
            <a:pPr algn="l">
              <a:lnSpc>
                <a:spcPts val="267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-1275976">
            <a:off x="14758216" y="6973212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COSMOS SDK</a:t>
            </a:r>
          </a:p>
        </p:txBody>
      </p:sp>
      <p:sp>
        <p:nvSpPr>
          <p:cNvPr name="TextBox 11" id="11"/>
          <p:cNvSpPr txBox="true"/>
          <p:nvPr/>
        </p:nvSpPr>
        <p:spPr>
          <a:xfrm rot="1267573">
            <a:off x="12427008" y="5890513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Carbon Framework</a:t>
            </a:r>
          </a:p>
        </p:txBody>
      </p:sp>
      <p:sp>
        <p:nvSpPr>
          <p:cNvPr name="TextBox 12" id="12"/>
          <p:cNvSpPr txBox="true"/>
          <p:nvPr/>
        </p:nvSpPr>
        <p:spPr>
          <a:xfrm rot="1267573">
            <a:off x="12343506" y="4850029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Governance Engine</a:t>
            </a:r>
          </a:p>
        </p:txBody>
      </p:sp>
      <p:sp>
        <p:nvSpPr>
          <p:cNvPr name="TextBox 13" id="13"/>
          <p:cNvSpPr txBox="true"/>
          <p:nvPr/>
        </p:nvSpPr>
        <p:spPr>
          <a:xfrm rot="-1352032">
            <a:off x="14665369" y="4824469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Mission Control</a:t>
            </a:r>
          </a:p>
        </p:txBody>
      </p:sp>
      <p:sp>
        <p:nvSpPr>
          <p:cNvPr name="TextBox 14" id="14"/>
          <p:cNvSpPr txBox="true"/>
          <p:nvPr/>
        </p:nvSpPr>
        <p:spPr>
          <a:xfrm rot="1267573">
            <a:off x="12343506" y="3802977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MRV Tools</a:t>
            </a:r>
          </a:p>
        </p:txBody>
      </p:sp>
      <p:sp>
        <p:nvSpPr>
          <p:cNvPr name="TextBox 15" id="15"/>
          <p:cNvSpPr txBox="true"/>
          <p:nvPr/>
        </p:nvSpPr>
        <p:spPr>
          <a:xfrm rot="-1394338">
            <a:off x="14577312" y="3841612"/>
            <a:ext cx="2337941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Universal-Access Apps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9267" y="880110"/>
            <a:ext cx="11476061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3000" spc="-105">
                <a:solidFill>
                  <a:srgbClr val="292B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Turn-key, closed-loop precision dMRV Infrastructure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95635" y="1253490"/>
            <a:ext cx="12492365" cy="8500237"/>
            <a:chOff x="0" y="0"/>
            <a:chExt cx="16656487" cy="113336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96022" y="980818"/>
              <a:ext cx="2134544" cy="1621364"/>
            </a:xfrm>
            <a:custGeom>
              <a:avLst/>
              <a:gdLst/>
              <a:ahLst/>
              <a:cxnLst/>
              <a:rect r="r" b="b" t="t" l="l"/>
              <a:pathLst>
                <a:path h="1621364" w="2134544">
                  <a:moveTo>
                    <a:pt x="0" y="0"/>
                  </a:moveTo>
                  <a:lnTo>
                    <a:pt x="2134544" y="0"/>
                  </a:lnTo>
                  <a:lnTo>
                    <a:pt x="2134544" y="1621364"/>
                  </a:lnTo>
                  <a:lnTo>
                    <a:pt x="0" y="162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5978376"/>
              <a:ext cx="2117139" cy="2625909"/>
            </a:xfrm>
            <a:custGeom>
              <a:avLst/>
              <a:gdLst/>
              <a:ahLst/>
              <a:cxnLst/>
              <a:rect r="r" b="b" t="t" l="l"/>
              <a:pathLst>
                <a:path h="2625909" w="2117139">
                  <a:moveTo>
                    <a:pt x="0" y="0"/>
                  </a:moveTo>
                  <a:lnTo>
                    <a:pt x="2117139" y="0"/>
                  </a:lnTo>
                  <a:lnTo>
                    <a:pt x="2117139" y="2625910"/>
                  </a:lnTo>
                  <a:lnTo>
                    <a:pt x="0" y="262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716707" y="3672900"/>
              <a:ext cx="2881979" cy="2125459"/>
            </a:xfrm>
            <a:custGeom>
              <a:avLst/>
              <a:gdLst/>
              <a:ahLst/>
              <a:cxnLst/>
              <a:rect r="r" b="b" t="t" l="l"/>
              <a:pathLst>
                <a:path h="2125459" w="2881979">
                  <a:moveTo>
                    <a:pt x="0" y="0"/>
                  </a:moveTo>
                  <a:lnTo>
                    <a:pt x="2881979" y="0"/>
                  </a:lnTo>
                  <a:lnTo>
                    <a:pt x="2881979" y="2125460"/>
                  </a:lnTo>
                  <a:lnTo>
                    <a:pt x="0" y="2125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16707" y="8633597"/>
              <a:ext cx="949946" cy="949946"/>
            </a:xfrm>
            <a:custGeom>
              <a:avLst/>
              <a:gdLst/>
              <a:ahLst/>
              <a:cxnLst/>
              <a:rect r="r" b="b" t="t" l="l"/>
              <a:pathLst>
                <a:path h="949946" w="949946">
                  <a:moveTo>
                    <a:pt x="0" y="0"/>
                  </a:moveTo>
                  <a:lnTo>
                    <a:pt x="949946" y="0"/>
                  </a:lnTo>
                  <a:lnTo>
                    <a:pt x="949946" y="949947"/>
                  </a:lnTo>
                  <a:lnTo>
                    <a:pt x="0" y="949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58984" y="6077813"/>
              <a:ext cx="951343" cy="951343"/>
            </a:xfrm>
            <a:custGeom>
              <a:avLst/>
              <a:gdLst/>
              <a:ahLst/>
              <a:cxnLst/>
              <a:rect r="r" b="b" t="t" l="l"/>
              <a:pathLst>
                <a:path h="951343" w="951343">
                  <a:moveTo>
                    <a:pt x="0" y="0"/>
                  </a:moveTo>
                  <a:lnTo>
                    <a:pt x="951342" y="0"/>
                  </a:lnTo>
                  <a:lnTo>
                    <a:pt x="951342" y="951343"/>
                  </a:lnTo>
                  <a:lnTo>
                    <a:pt x="0" y="951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584441" y="3672900"/>
              <a:ext cx="859311" cy="859311"/>
            </a:xfrm>
            <a:custGeom>
              <a:avLst/>
              <a:gdLst/>
              <a:ahLst/>
              <a:cxnLst/>
              <a:rect r="r" b="b" t="t" l="l"/>
              <a:pathLst>
                <a:path h="859311" w="859311">
                  <a:moveTo>
                    <a:pt x="0" y="0"/>
                  </a:moveTo>
                  <a:lnTo>
                    <a:pt x="859311" y="0"/>
                  </a:lnTo>
                  <a:lnTo>
                    <a:pt x="859311" y="859311"/>
                  </a:lnTo>
                  <a:lnTo>
                    <a:pt x="0" y="859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110225" y="640122"/>
              <a:ext cx="3111833" cy="2302756"/>
            </a:xfrm>
            <a:custGeom>
              <a:avLst/>
              <a:gdLst/>
              <a:ahLst/>
              <a:cxnLst/>
              <a:rect r="r" b="b" t="t" l="l"/>
              <a:pathLst>
                <a:path h="2302756" w="3111833">
                  <a:moveTo>
                    <a:pt x="0" y="0"/>
                  </a:moveTo>
                  <a:lnTo>
                    <a:pt x="3111833" y="0"/>
                  </a:lnTo>
                  <a:lnTo>
                    <a:pt x="3111833" y="2302756"/>
                  </a:lnTo>
                  <a:lnTo>
                    <a:pt x="0" y="2302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037941" y="1459446"/>
              <a:ext cx="2589540" cy="1848284"/>
            </a:xfrm>
            <a:custGeom>
              <a:avLst/>
              <a:gdLst/>
              <a:ahLst/>
              <a:cxnLst/>
              <a:rect r="r" b="b" t="t" l="l"/>
              <a:pathLst>
                <a:path h="1848284" w="2589540">
                  <a:moveTo>
                    <a:pt x="0" y="0"/>
                  </a:moveTo>
                  <a:lnTo>
                    <a:pt x="2589540" y="0"/>
                  </a:lnTo>
                  <a:lnTo>
                    <a:pt x="2589540" y="1848285"/>
                  </a:lnTo>
                  <a:lnTo>
                    <a:pt x="0" y="1848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037081" y="1791500"/>
              <a:ext cx="859311" cy="859311"/>
            </a:xfrm>
            <a:custGeom>
              <a:avLst/>
              <a:gdLst/>
              <a:ahLst/>
              <a:cxnLst/>
              <a:rect r="r" b="b" t="t" l="l"/>
              <a:pathLst>
                <a:path h="859311" w="859311">
                  <a:moveTo>
                    <a:pt x="0" y="0"/>
                  </a:moveTo>
                  <a:lnTo>
                    <a:pt x="859311" y="0"/>
                  </a:lnTo>
                  <a:lnTo>
                    <a:pt x="859311" y="859311"/>
                  </a:lnTo>
                  <a:lnTo>
                    <a:pt x="0" y="859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995925" y="4190282"/>
              <a:ext cx="941623" cy="941623"/>
            </a:xfrm>
            <a:custGeom>
              <a:avLst/>
              <a:gdLst/>
              <a:ahLst/>
              <a:cxnLst/>
              <a:rect r="r" b="b" t="t" l="l"/>
              <a:pathLst>
                <a:path h="941623" w="941623">
                  <a:moveTo>
                    <a:pt x="0" y="0"/>
                  </a:moveTo>
                  <a:lnTo>
                    <a:pt x="941623" y="0"/>
                  </a:lnTo>
                  <a:lnTo>
                    <a:pt x="941623" y="941623"/>
                  </a:lnTo>
                  <a:lnTo>
                    <a:pt x="0" y="941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4" id="14"/>
            <p:cNvSpPr/>
            <p:nvPr/>
          </p:nvSpPr>
          <p:spPr>
            <a:xfrm flipH="true">
              <a:off x="7416850" y="7681271"/>
              <a:ext cx="2067145" cy="1450079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381242" y="6886819"/>
              <a:ext cx="951343" cy="951343"/>
            </a:xfrm>
            <a:custGeom>
              <a:avLst/>
              <a:gdLst/>
              <a:ahLst/>
              <a:cxnLst/>
              <a:rect r="r" b="b" t="t" l="l"/>
              <a:pathLst>
                <a:path h="951343" w="951343">
                  <a:moveTo>
                    <a:pt x="0" y="0"/>
                  </a:moveTo>
                  <a:lnTo>
                    <a:pt x="951342" y="0"/>
                  </a:lnTo>
                  <a:lnTo>
                    <a:pt x="951342" y="951342"/>
                  </a:lnTo>
                  <a:lnTo>
                    <a:pt x="0" y="951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6" id="16"/>
            <p:cNvSpPr/>
            <p:nvPr/>
          </p:nvSpPr>
          <p:spPr>
            <a:xfrm flipV="true">
              <a:off x="3569537" y="6870238"/>
              <a:ext cx="2683524" cy="1935847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7054234" y="4405746"/>
              <a:ext cx="2683524" cy="1935847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H="true" flipV="true">
              <a:off x="1805507" y="8395480"/>
              <a:ext cx="975699" cy="495766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H="true" flipV="true">
              <a:off x="5343331" y="5737819"/>
              <a:ext cx="975699" cy="495766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H="true" flipV="true">
              <a:off x="8881214" y="3425017"/>
              <a:ext cx="975699" cy="495766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 flipV="true">
              <a:off x="7230566" y="1791500"/>
              <a:ext cx="5236171" cy="0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H="true" flipV="true">
              <a:off x="12408542" y="2656472"/>
              <a:ext cx="58194" cy="1533810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10037852" y="4661094"/>
              <a:ext cx="1958073" cy="2625078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4911299" y="7838161"/>
              <a:ext cx="1879889" cy="978595"/>
            </a:xfrm>
            <a:prstGeom prst="line">
              <a:avLst/>
            </a:prstGeom>
            <a:ln cap="flat" w="12700">
              <a:solidFill>
                <a:srgbClr val="0FBCF9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158984" y="7972343"/>
              <a:ext cx="2101342" cy="2423059"/>
            </a:xfrm>
            <a:custGeom>
              <a:avLst/>
              <a:gdLst/>
              <a:ahLst/>
              <a:cxnLst/>
              <a:rect r="r" b="b" t="t" l="l"/>
              <a:pathLst>
                <a:path h="2423059" w="2101342">
                  <a:moveTo>
                    <a:pt x="0" y="0"/>
                  </a:moveTo>
                  <a:lnTo>
                    <a:pt x="2101341" y="0"/>
                  </a:lnTo>
                  <a:lnTo>
                    <a:pt x="2101341" y="2423059"/>
                  </a:lnTo>
                  <a:lnTo>
                    <a:pt x="0" y="242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32" r="0" b="-3532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699920" y="0"/>
              <a:ext cx="675864" cy="650800"/>
            </a:xfrm>
            <a:custGeom>
              <a:avLst/>
              <a:gdLst/>
              <a:ahLst/>
              <a:cxnLst/>
              <a:rect r="r" b="b" t="t" l="l"/>
              <a:pathLst>
                <a:path h="650800" w="675864">
                  <a:moveTo>
                    <a:pt x="0" y="0"/>
                  </a:moveTo>
                  <a:lnTo>
                    <a:pt x="675864" y="0"/>
                  </a:lnTo>
                  <a:lnTo>
                    <a:pt x="675864" y="650800"/>
                  </a:lnTo>
                  <a:lnTo>
                    <a:pt x="0" y="6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271018" y="6918445"/>
              <a:ext cx="2766064" cy="1839432"/>
            </a:xfrm>
            <a:custGeom>
              <a:avLst/>
              <a:gdLst/>
              <a:ahLst/>
              <a:cxnLst/>
              <a:rect r="r" b="b" t="t" l="l"/>
              <a:pathLst>
                <a:path h="1839432" w="2766064">
                  <a:moveTo>
                    <a:pt x="0" y="0"/>
                  </a:moveTo>
                  <a:lnTo>
                    <a:pt x="2766063" y="0"/>
                  </a:lnTo>
                  <a:lnTo>
                    <a:pt x="2766063" y="1839433"/>
                  </a:lnTo>
                  <a:lnTo>
                    <a:pt x="0" y="1839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2402325" y="4304582"/>
              <a:ext cx="1842806" cy="2164824"/>
            </a:xfrm>
            <a:custGeom>
              <a:avLst/>
              <a:gdLst/>
              <a:ahLst/>
              <a:cxnLst/>
              <a:rect r="r" b="b" t="t" l="l"/>
              <a:pathLst>
                <a:path h="2164824" w="1842806">
                  <a:moveTo>
                    <a:pt x="0" y="0"/>
                  </a:moveTo>
                  <a:lnTo>
                    <a:pt x="1842806" y="0"/>
                  </a:lnTo>
                  <a:lnTo>
                    <a:pt x="1842806" y="2164824"/>
                  </a:lnTo>
                  <a:lnTo>
                    <a:pt x="0" y="216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3110225" y="3044206"/>
              <a:ext cx="3546261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Validated Task Completion for </a:t>
              </a:r>
            </a:p>
            <a:p>
              <a:pPr algn="l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e-wallet to payout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449664" y="857175"/>
              <a:ext cx="3546261" cy="26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Data validate by Ai and Users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439126" y="3514106"/>
              <a:ext cx="2304875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Smart contracts create records on chain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447709" y="5970060"/>
              <a:ext cx="2304875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Mobile App AI Assistant to help capture proof of planting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8920348"/>
              <a:ext cx="2304875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Planter begins planting  Coconut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179120" y="10054124"/>
              <a:ext cx="2304875" cy="127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Buyers purchase credible units of carbon credits enriched by tokenized data sets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4165488" y="4312143"/>
              <a:ext cx="2483906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Standard compliance</a:t>
              </a:r>
            </a:p>
            <a:p>
              <a:pPr algn="l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management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182235" y="7788559"/>
              <a:ext cx="2483906" cy="77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60"/>
                </a:lnSpc>
                <a:spcBef>
                  <a:spcPct val="0"/>
                </a:spcBef>
              </a:pPr>
              <a:r>
                <a:rPr lang="en-US" sz="1300">
                  <a:solidFill>
                    <a:srgbClr val="0FBCF9"/>
                  </a:solidFill>
                  <a:latin typeface="Aileron"/>
                  <a:ea typeface="Aileron"/>
                  <a:cs typeface="Aileron"/>
                  <a:sym typeface="Aileron"/>
                </a:rPr>
                <a:t>Continuous data enrichment and validation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88574" y="2319735"/>
            <a:ext cx="4939171" cy="563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Problems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Outdated, Manipulable Data</a:t>
            </a:r>
          </a:p>
          <a:p>
            <a:pPr algn="l" marL="360555" indent="-180277" lvl="1">
              <a:lnSpc>
                <a:spcPts val="2004"/>
              </a:lnSpc>
              <a:spcBef>
                <a:spcPct val="0"/>
              </a:spcBef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Paper-based MRV can be altered and lacks an immutable record.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Farmers Excluded</a:t>
            </a:r>
          </a:p>
          <a:p>
            <a:pPr algn="l" marL="360555" indent="-180277" lvl="1">
              <a:lnSpc>
                <a:spcPts val="2004"/>
              </a:lnSpc>
              <a:spcBef>
                <a:spcPct val="0"/>
              </a:spcBef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 recognized proof of work or impact for government/project payouts.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Fraud &amp; Middlemen</a:t>
            </a:r>
          </a:p>
          <a:p>
            <a:pPr algn="l" marL="360555" indent="-180277" lvl="1">
              <a:lnSpc>
                <a:spcPts val="2004"/>
              </a:lnSpc>
              <a:spcBef>
                <a:spcPct val="0"/>
              </a:spcBef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os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ly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ro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k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ers control compliance packaging, enabling manipulation.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Solutions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Immutable Data Anchoring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(La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yer 1)</a:t>
            </a:r>
          </a:p>
          <a:p>
            <a:pPr algn="l" marL="360555" indent="-180277" lvl="1">
              <a:lnSpc>
                <a:spcPts val="2004"/>
              </a:lnSpc>
              <a:spcBef>
                <a:spcPct val="0"/>
              </a:spcBef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AI + human PoV validates MRV and anchors it to a sovereign chain.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Direct Recognition for Farmers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(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Layer 3)</a:t>
            </a:r>
          </a:p>
          <a:p>
            <a:pPr algn="l" marL="360555" indent="-180277" lvl="1">
              <a:lnSpc>
                <a:spcPts val="2004"/>
              </a:lnSpc>
              <a:spcBef>
                <a:spcPct val="0"/>
              </a:spcBef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Simple, offline-ready apps create proof-of-record and track impact.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3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Automated Compliance Packaging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(</a:t>
            </a: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Layer 2)</a:t>
            </a:r>
          </a:p>
          <a:p>
            <a:pPr algn="l" marL="360555" indent="-180277" lvl="1">
              <a:lnSpc>
                <a:spcPts val="2004"/>
              </a:lnSpc>
              <a:spcBef>
                <a:spcPct val="0"/>
              </a:spcBef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Aggregates and formats verified data, removing the need for brokers.</a:t>
            </a:r>
          </a:p>
          <a:p>
            <a:pPr algn="l">
              <a:lnSpc>
                <a:spcPts val="200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DAGxFQChyrA</dc:identifier>
  <dcterms:modified xsi:type="dcterms:W3CDTF">2011-08-01T06:04:30Z</dcterms:modified>
  <cp:revision>1</cp:revision>
  <dc:title>Chain of Custody Network</dc:title>
</cp:coreProperties>
</file>